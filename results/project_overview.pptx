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Cooperative Highway Merging</a:t>
            </a:r>
          </a:p>
          <a:p>
            <a:pPr>
              <a:defRPr sz="2200">
                <a:solidFill>
                  <a:srgbClr val="CCCCDD"/>
                </a:solidFill>
              </a:defRPr>
            </a:pPr>
            <a:r>
              <a:t>for Connected Autonomous Vehicles — A CARLA Simulation Study</a:t>
            </a:r>
          </a:p>
          <a:p>
            <a:br/>
            <a:pPr>
              <a:defRPr sz="1600">
                <a:solidFill>
                  <a:srgbClr val="4A86E8"/>
                </a:solidFill>
              </a:defRPr>
            </a:pPr>
            <a:r>
              <a:t>Project status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86E8"/>
                </a:solidFill>
              </a:defRPr>
            </a:pPr>
            <a:r>
              <a:t>MOTIVATION</a:t>
            </a:r>
          </a:p>
          <a:p>
            <a:pPr>
              <a:defRPr sz="3000" b="1">
                <a:solidFill>
                  <a:srgbClr val="2B2B2B"/>
                </a:solidFill>
              </a:defRPr>
            </a:pPr>
            <a:r>
              <a:t>Research Question &amp; Hypothesis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B2B2B"/>
                </a:solidFill>
              </a:defRPr>
            </a:pPr>
            <a:r>
              <a:t>Does explicit cooperation between vehicles improve safety and merge efficiency,</a:t>
            </a:r>
          </a:p>
          <a:p>
            <a:pPr>
              <a:spcAft>
                <a:spcPts val="1000"/>
              </a:spcAft>
              <a:defRPr sz="1800" b="0">
                <a:solidFill>
                  <a:srgbClr val="2B2B2B"/>
                </a:solidFill>
              </a:defRPr>
            </a:pPr>
            <a:r>
              <a:t>compared with each vehicle deciding independently?</a:t>
            </a:r>
          </a:p>
          <a:p>
            <a:pPr>
              <a:spcAft>
                <a:spcPts val="1000"/>
              </a:spcAft>
              <a:defRPr sz="1800" b="0">
                <a:solidFill>
                  <a:srgbClr val="2B2B2B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Hypothesis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Cooperative yielding / negotiation improves merge success and safety,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while reducing disruptive braking for traffic behind.</a:t>
            </a:r>
          </a:p>
          <a:p>
            <a:pPr>
              <a:spcAft>
                <a:spcPts val="1000"/>
              </a:spcAft>
              <a:defRPr sz="1800" b="0">
                <a:solidFill>
                  <a:srgbClr val="2B2B2B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Scenario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One ramp vehicle requests entry; one main-lane vehicle decides: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yield, maintain speed, or accelerate.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86E8"/>
                </a:solidFill>
              </a:defRPr>
            </a:pPr>
            <a:r>
              <a:t>METHOD</a:t>
            </a:r>
          </a:p>
          <a:p>
            <a:pPr>
              <a:defRPr sz="3000" b="1">
                <a:solidFill>
                  <a:srgbClr val="2B2B2B"/>
                </a:solidFill>
              </a:defRPr>
            </a:pPr>
            <a:r>
              <a:t>Five Strategies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1. Egoistic — baseline, ignores the ramp vehicle entirely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2. Rule-based — yields under a fixed TTC threshold (what most prior work does)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3. Negotiation — formal utility model over YIELD / HOLD / ACCELERATE / COUNTER-OFFER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weighs delay cost, collision risk, and courtesy — this is the core contribution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4. Negotiation (no uncertainty) — same model, deterministic risk — an ablation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5. Learned (stretch goal) — PPO-trained policy, same action vocabulary</a:t>
            </a:r>
          </a:p>
          <a:p>
            <a:pPr>
              <a:spcAft>
                <a:spcPts val="1000"/>
              </a:spcAft>
              <a:defRPr sz="1800" b="0">
                <a:solidFill>
                  <a:srgbClr val="2B2B2B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All five share ONE low-level controller (IDM + PID)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so differences measure decision quality, not driving skill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86E8"/>
                </a:solidFill>
              </a:defRPr>
            </a:pPr>
            <a:r>
              <a:t>CONTRIBUTION</a:t>
            </a:r>
          </a:p>
          <a:p>
            <a:pPr>
              <a:defRPr sz="3000" b="1">
                <a:solidFill>
                  <a:srgbClr val="2B2B2B"/>
                </a:solidFill>
              </a:defRPr>
            </a:pPr>
            <a:r>
              <a:t>What Makes This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Risk-aware negotiation under uncertain HDV intent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Collision risk = expectation over plausible human-driver behavior,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not a single deterministic point estimate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String-effect metric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Speed drop of the SECOND vehicle back — most papers only check the first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Failure-mode taxonomy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Classifies why a strategy failed, not just whether it did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Statistical rigor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Bootstrap confidence intervals + Kruskal-Wallis / Mann-Whitney significance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86E8"/>
                </a:solidFill>
              </a:defRPr>
            </a:pPr>
            <a:r>
              <a:t>RELATED WORK</a:t>
            </a:r>
          </a:p>
          <a:p>
            <a:pPr>
              <a:defRPr sz="3000" b="1">
                <a:solidFill>
                  <a:srgbClr val="2B2B2B"/>
                </a:solidFill>
              </a:defRPr>
            </a:pPr>
            <a:r>
              <a:t>How This Compares to Existing Papers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Individual ideas already have precedent — being upfront about this: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Bayesian belief over driver intent (Cooperation-Aware Decision Making, IEEE)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Negotiation-based right-of-way assignment (arXiv 1904.06500)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String/disturbance propagation theory (Seiler et al., decades-old control theory)</a:t>
            </a:r>
          </a:p>
          <a:p>
            <a:pPr>
              <a:spcAft>
                <a:spcPts val="1000"/>
              </a:spcAft>
              <a:defRPr sz="1800" b="0">
                <a:solidFill>
                  <a:srgbClr val="2B2B2B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No single paper found combining all of: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CARLA + 4-way strategy ladder + shared controller + failure taxonomy +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string-effect metric + uncertainty ablation + proper statistics</a:t>
            </a:r>
          </a:p>
          <a:p>
            <a:pPr>
              <a:spcAft>
                <a:spcPts val="1000"/>
              </a:spcAft>
              <a:defRPr sz="1800" b="0">
                <a:solidFill>
                  <a:srgbClr val="2B2B2B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Contribution = rigor and integration, not a brand-new technique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86E8"/>
                </a:solidFill>
              </a:defRPr>
            </a:pPr>
            <a:r>
              <a:t>STATUS</a:t>
            </a:r>
          </a:p>
          <a:p>
            <a:pPr>
              <a:defRPr sz="3000" b="1">
                <a:solidFill>
                  <a:srgbClr val="2B2B2B"/>
                </a:solidFill>
              </a:defRPr>
            </a:pPr>
            <a:r>
              <a:t>Where Things Stand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Done and verified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Negotiation model, metrics, failure classifier, statistics — 40/40 unit tests passing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Full experiment pipeline written: resumable, writes results incrementally</a:t>
            </a:r>
          </a:p>
          <a:p>
            <a:pPr>
              <a:spcAft>
                <a:spcPts val="1000"/>
              </a:spcAft>
              <a:defRPr sz="1800" b="0">
                <a:solidFill>
                  <a:srgbClr val="2B2B2B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In progress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Getting the CARLA simulator itself running on Google Colab (no local GPU)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Working through Colab-specific setup issues (Python version, root-user restriction)</a:t>
            </a:r>
          </a:p>
          <a:p>
            <a:pPr>
              <a:spcAft>
                <a:spcPts val="1000"/>
              </a:spcAft>
              <a:defRPr sz="1800" b="0">
                <a:solidFill>
                  <a:srgbClr val="2B2B2B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Not started yet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6B6B6B"/>
                </a:solidFill>
              </a:defRPr>
            </a:pPr>
            <a:r>
              <a:t>Actual experiment results — zero episodes run so far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86E8"/>
                </a:solidFill>
              </a:defRPr>
            </a:pPr>
            <a:r>
              <a:t>PLAN</a:t>
            </a:r>
          </a:p>
          <a:p>
            <a:pPr>
              <a:defRPr sz="3000" b="1">
                <a:solidFill>
                  <a:srgbClr val="2B2B2B"/>
                </a:solidFill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1. Finish CARLA-on-Colab setup, confirm one working episode (smoke test)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2. Run 1-seed smoke test across all conditions — sanity-check the numbers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3. Run the full grid: 5 strategies x 3 densities x 20 seeds = 300 episodes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4. Statistical analysis: confidence intervals, significance tests, figures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5. Optional: strengthen negotiation model as a formal bargaining game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6. Optional: train and evaluate the learned (RL) strategy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t>7. Write up results for submission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86E8"/>
                </a:solidFill>
              </a:defRPr>
            </a:pPr>
            <a:r>
              <a:t>LIMITATIONS</a:t>
            </a:r>
          </a:p>
          <a:p>
            <a:pPr>
              <a:defRPr sz="3000" b="1">
                <a:solidFill>
                  <a:srgbClr val="2B2B2B"/>
                </a:solidFill>
              </a:defRPr>
            </a:pPr>
            <a:r>
              <a:t>What This Study Does Not Claim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B2B2B"/>
                </a:solidFill>
              </a:defRPr>
            </a:pPr>
            <a:r>
              <a:t>Single-pair interaction (1 ramp + 1 main-lane vehicle), not joint multi-vehicle control</a:t>
            </a:r>
          </a:p>
          <a:p>
            <a:pPr>
              <a:spcAft>
                <a:spcPts val="1000"/>
              </a:spcAft>
              <a:defRPr sz="1800" b="0">
                <a:solidFill>
                  <a:srgbClr val="2B2B2B"/>
                </a:solidFill>
              </a:defRPr>
            </a:pPr>
            <a:r>
              <a:t>Negotiation utility is a hand-weighted heuristic, not a game-theoretic equilibrium</a:t>
            </a:r>
          </a:p>
          <a:p>
            <a:pPr>
              <a:spcAft>
                <a:spcPts val="1000"/>
              </a:spcAft>
              <a:defRPr sz="1800" b="0">
                <a:solidFill>
                  <a:srgbClr val="2B2B2B"/>
                </a:solidFill>
              </a:defRPr>
            </a:pPr>
            <a:r>
              <a:t>No results yet — everything above is infrastructure, not findings</a:t>
            </a:r>
          </a:p>
          <a:p>
            <a:pPr>
              <a:spcAft>
                <a:spcPts val="1000"/>
              </a:spcAft>
              <a:defRPr sz="1800" b="0">
                <a:solidFill>
                  <a:srgbClr val="2B2B2B"/>
                </a:solidFill>
              </a:defRPr>
            </a:pPr>
            <a:r>
              <a:t>Learned strategy is a stretch goal, evaluated only if time permits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